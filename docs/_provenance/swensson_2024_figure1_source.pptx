
<file path=[Content_Types].xml><?xml version="1.0" encoding="utf-8"?>
<Types xmlns="http://schemas.openxmlformats.org/package/2006/content-types">
  <Override PartName="/_rels/.rels" ContentType="application/vnd.openxmlformats-package.relationships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_rels/presentation.xml.rels" ContentType="application/vnd.openxmlformats-package.relationships+xml"/>
  <Override PartName="/ppt/media/image1.jpeg" ContentType="image/jpeg"/>
  <Override PartName="/ppt/slides/_rels/slide1.xml.rels" ContentType="application/vnd.openxmlformats-package.relationships+xml"/>
  <Override PartName="/ppt/slides/slide1.xml" ContentType="application/vnd.openxmlformats-officedocument.presentationml.slide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1.xml" ContentType="application/vnd.openxmlformats-officedocument.theme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presentation.xml" ContentType="application/vnd.openxmlformats-officedocument.presentationml.presentation.main+xml"/>
  <Override PartName="/docProps/app.xml" ContentType="application/vnd.openxmlformats-officedocument.extended-properties+xml"/>
  <Override PartName="/docProps/core.xml" ContentType="application/vnd.openxmlformats-package.core-propertie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</p:sldIdLst>
  <p:sldSz cx="9144000" cy="6858000"/>
  <p:notesSz cx="7772400" cy="10058400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</p:spPr>
        <p:txBody>
          <a:bodyPr lIns="0" rIns="0" tIns="0" bIns="0" anchor="ctr"/>
          <a:p>
            <a:pPr algn="ctr"/>
            <a:r>
              <a:rPr b="0" lang="en-US" sz="4400" spc="-1" strike="noStrike">
                <a:latin typeface="Arial"/>
              </a:rPr>
              <a:t>Click to move the slide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</p:spPr>
        <p:txBody>
          <a:bodyPr lIns="0" rIns="0" tIns="0" bIns="0"/>
          <a:p>
            <a:r>
              <a:rPr b="0" lang="en-US" sz="2000" spc="-1" strike="noStrike">
                <a:latin typeface="Arial"/>
              </a:rPr>
              <a:t>Click to edit the notes format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</p:spPr>
        <p:txBody>
          <a:bodyPr lIns="0" rIns="0" tIns="0" bIns="0"/>
          <a:p>
            <a:r>
              <a:rPr b="0" lang="en-US" sz="1400" spc="-1" strike="noStrike">
                <a:solidFill>
                  <a:srgbClr val="303d22"/>
                </a:solidFill>
                <a:latin typeface="Arial"/>
              </a:rPr>
              <a:t>&lt;header&gt;</a:t>
            </a:r>
            <a:endParaRPr b="0" lang="en-US" sz="1400" spc="-1" strike="noStrike">
              <a:solidFill>
                <a:srgbClr val="303d22"/>
              </a:solidFill>
              <a:latin typeface="Arial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dt"/>
          </p:nvPr>
        </p:nvSpPr>
        <p:spPr>
          <a:xfrm>
            <a:off x="4399200" y="0"/>
            <a:ext cx="3372840" cy="502560"/>
          </a:xfrm>
          <a:prstGeom prst="rect">
            <a:avLst/>
          </a:prstGeom>
        </p:spPr>
        <p:txBody>
          <a:bodyPr lIns="0" rIns="0" tIns="0" bIns="0"/>
          <a:p>
            <a:pPr algn="r"/>
            <a:r>
              <a:rPr b="0" lang="en-US" sz="1400" spc="-1" strike="noStrike">
                <a:solidFill>
                  <a:srgbClr val="303d22"/>
                </a:solidFill>
                <a:latin typeface="Arial"/>
              </a:rPr>
              <a:t>&lt;date/time&gt;</a:t>
            </a:r>
            <a:endParaRPr b="0" lang="en-US" sz="1400" spc="-1" strike="noStrike">
              <a:solidFill>
                <a:srgbClr val="303d22"/>
              </a:solidFill>
              <a:latin typeface="Arial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ftr"/>
          </p:nvPr>
        </p:nvSpPr>
        <p:spPr>
          <a:xfrm>
            <a:off x="0" y="9555480"/>
            <a:ext cx="3372840" cy="502560"/>
          </a:xfrm>
          <a:prstGeom prst="rect">
            <a:avLst/>
          </a:prstGeom>
        </p:spPr>
        <p:txBody>
          <a:bodyPr lIns="0" rIns="0" tIns="0" bIns="0" anchor="b"/>
          <a:p>
            <a:r>
              <a:rPr b="0" lang="en-US" sz="1400" spc="-1" strike="noStrike">
                <a:solidFill>
                  <a:srgbClr val="303d22"/>
                </a:solidFill>
                <a:latin typeface="Arial"/>
              </a:rPr>
              <a:t>&lt;footer&gt;</a:t>
            </a:r>
            <a:endParaRPr b="0" lang="en-US" sz="1400" spc="-1" strike="noStrike">
              <a:solidFill>
                <a:srgbClr val="303d22"/>
              </a:solidFill>
              <a:latin typeface="Arial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sldNum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</p:spPr>
        <p:txBody>
          <a:bodyPr lIns="0" rIns="0" tIns="0" bIns="0" anchor="b"/>
          <a:p>
            <a:pPr algn="r"/>
            <a:fld id="{E041A348-A88D-408F-8B54-283666227AC7}" type="slidenum">
              <a:rPr b="0" lang="en-US" sz="1400" spc="-1" strike="noStrike">
                <a:solidFill>
                  <a:srgbClr val="303d22"/>
                </a:solidFill>
                <a:latin typeface="Arial"/>
              </a:rPr>
              <a:t>&lt;number&gt;</a:t>
            </a:fld>
            <a:endParaRPr b="0" lang="en-US" sz="1400" spc="-1" strike="noStrike">
              <a:solidFill>
                <a:srgbClr val="303d22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sldImg"/>
          </p:nvPr>
        </p:nvSpPr>
        <p:spPr>
          <a:xfrm>
            <a:off x="1587960" y="1005840"/>
            <a:ext cx="4596480" cy="3447360"/>
          </a:xfrm>
          <a:prstGeom prst="rect">
            <a:avLst/>
          </a:prstGeom>
        </p:spPr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1185120" y="4787640"/>
            <a:ext cx="5407560" cy="8499960"/>
          </a:xfrm>
          <a:prstGeom prst="rect">
            <a:avLst/>
          </a:prstGeom>
        </p:spPr>
        <p:txBody>
          <a:bodyPr lIns="0" rIns="0" tIns="0" bIns="0"/>
          <a:p>
            <a:r>
              <a:rPr b="0" lang="en-US" sz="2000" spc="-1" strike="noStrike">
                <a:latin typeface="Arial"/>
              </a:rPr>
              <a:t>Alex, Aden, and Ida's multiple baseline graph of IDKPTM responses, correct answers and generalization probes. IDKPTM Set 1 are questions selected for intervention and IDKPTM Set 2 are questions used in generalization probes. The phase change lines between baseline and intervention are sessions implemented with a 0 s time delay. The asterisk marks the session where Aden resumed sessions following a break. The data paths reflect an inverse relationship of the IDKPTM response and the acquisition of correct answers to questions. IDKPTM, "I don't know, please tell me". </a:t>
            </a:r>
            <a:endParaRPr b="0" lang="en-US" sz="2000" spc="-1" strike="noStrike">
              <a:latin typeface="Arial"/>
            </a:endParaRPr>
          </a:p>
          <a:p>
            <a:r>
              <a:rPr b="0" lang="en-US" sz="2000" spc="-1" strike="noStrike">
                <a:latin typeface="Arial"/>
              </a:rPr>
              <a:t>IF THIS IMAGE HAS BEEN PROVIDED BY OR IS OWNED BY A THIRD PARTY, AS INDICATED IN THE CAPTION LINE, THEN FURTHER PERMISSION MAY BE NEEDED BEFORE ANY FURTHER USE. PLEASE CONTACT WILEY'S PERMISSIONS DEPARTMENT ON PERMISSIONS@WILEY.COM OR USE THE RIGHTSLINK SERVICE BY CLICKING ON THE 'REQUEST PERMISSIONS' LINK ACCOMPANYING THIS ARTICLE. WILEY OR AUTHOR OWNED IMAGES MAY BE USED FOR NON-COMMERCIAL PURPOSES, SUBJECT TO PROPER CITATION OF THE ARTICLE, AUTHOR, AND PUBLISHER. </a:t>
            </a:r>
            <a:endParaRPr b="0" lang="en-US" sz="2000" spc="-1" strike="noStrike"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CustomShape 1"/>
          <p:cNvSpPr/>
          <p:nvPr/>
        </p:nvSpPr>
        <p:spPr>
          <a:xfrm>
            <a:off x="0" y="0"/>
            <a:ext cx="144000" cy="6858000"/>
          </a:xfrm>
          <a:prstGeom prst="rect">
            <a:avLst/>
          </a:prstGeom>
          <a:solidFill>
            <a:srgbClr val="0054a6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CustomShape 2"/>
          <p:cNvSpPr/>
          <p:nvPr/>
        </p:nvSpPr>
        <p:spPr>
          <a:xfrm>
            <a:off x="0" y="0"/>
            <a:ext cx="144000" cy="1198440"/>
          </a:xfrm>
          <a:prstGeom prst="rect">
            <a:avLst/>
          </a:prstGeom>
          <a:solidFill>
            <a:srgbClr val="ffce34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Shape 1"/>
          <p:cNvSpPr txBox="1"/>
          <p:nvPr/>
        </p:nvSpPr>
        <p:spPr>
          <a:xfrm>
            <a:off x="1260000" y="152280"/>
            <a:ext cx="7200000" cy="451800"/>
          </a:xfrm>
          <a:prstGeom prst="rect">
            <a:avLst/>
          </a:prstGeom>
          <a:noFill/>
          <a:ln>
            <a:noFill/>
          </a:ln>
        </p:spPr>
        <p:txBody>
          <a:bodyPr lIns="90000" rIns="90000" tIns="46800" bIns="46800"/>
          <a:p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Teaching children with autism spectrum disorder to mand for answers to questions via telehealth: A caregiver implementation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TextShape 2"/>
          <p:cNvSpPr txBox="1"/>
          <p:nvPr/>
        </p:nvSpPr>
        <p:spPr>
          <a:xfrm>
            <a:off x="360000" y="5940000"/>
            <a:ext cx="8640000" cy="4518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US" sz="800" spc="-1" strike="noStrike">
                <a:solidFill>
                  <a:srgbClr val="0054a6"/>
                </a:solidFill>
                <a:latin typeface="Arial"/>
              </a:rPr>
              <a:t>Behavioral Interventions, Volume: 39, Issue: 3, First published: 04 April 2024, DOI: (10.1002/bin.2015) 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6" name="Main graphic" descr=""/>
          <p:cNvPicPr/>
          <p:nvPr/>
        </p:nvPicPr>
        <p:blipFill>
          <a:blip r:embed="rId1"/>
          <a:stretch/>
        </p:blipFill>
        <p:spPr>
          <a:xfrm>
            <a:off x="3066120" y="762120"/>
            <a:ext cx="3062880" cy="3809880"/>
          </a:xfrm>
          <a:prstGeom prst="rect">
            <a:avLst/>
          </a:prstGeom>
          <a:ln>
            <a:noFill/>
          </a:ln>
        </p:spPr>
      </p:pic>
    </p:spTree>
  </p:cSld>
  <p:transition>
    <p:wipe dir="r"/>
  </p:transition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LibreOffice/6.0.7.3$Linux_X86_64 LibreOffice_project/dc89aa7a9eabfd848af146d5086077aeed2ae4a5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